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67FF548-1976-6A11-2DBC-10EBA834E88D}">
          <p14:sldIdLst>
            <p14:sldId id="256"/>
          </p14:sldIdLst>
        </p14:section>
        <p14:section name="Background" id="{4AAD54D1-40CD-A4C5-FE4C-13AB17EE8B08}">
          <p14:sldIdLst>
            <p14:sldId id="257"/>
            <p14:sldId id="258"/>
          </p14:sldIdLst>
        </p14:section>
        <p14:section name="Approach" id="{C65EE132-3293-38E3-1BC4-0BC1808B5A9B}">
          <p14:sldIdLst>
            <p14:sldId id="259"/>
            <p14:sldId id="260"/>
            <p14:sldId id="261"/>
            <p14:sldId id="262"/>
          </p14:sldIdLst>
        </p14:section>
        <p14:section name="Modeling" id="{D3CFE94E-FACF-89AD-F6F5-5DDB0C247564}">
          <p14:sldIdLst>
            <p14:sldId id="263"/>
            <p14:sldId id="264"/>
          </p14:sldIdLst>
        </p14:section>
        <p14:section name="Application" id="{8643E193-5F35-2201-64F1-917058BEB8EA}">
          <p14:sldIdLst>
            <p14:sldId id="265"/>
            <p14:sldId id="266"/>
          </p14:sldIdLst>
        </p14:section>
        <p14:section name="Results" id="{4656DE21-3E25-8AE8-8CC4-A16F9290D004}">
          <p14:sldIdLst>
            <p14:sldId id="267"/>
            <p14:sldId id="268"/>
            <p14:sldId id="269"/>
          </p14:sldIdLst>
        </p14:section>
        <p14:section name="Closing" id="{60A5B14B-31CB-6782-AE49-73F872A1EE95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53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College Feedback Intelligence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college-feedback-intelligence.streamlit.app" TargetMode="External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lege-feedback-intelligence.streamlit.app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6309360" y="548640"/>
            <a:ext cx="3840480" cy="3840480"/>
          </a:xfrm>
          <a:prstGeom prst="ellipse">
            <a:avLst/>
          </a:prstGeom>
          <a:solidFill>
            <a:srgbClr val="3B5BDB">
              <a:alpha val="30000"/>
            </a:srgbClr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Decor circle small"/>
          <p:cNvSpPr/>
          <p:nvPr/>
        </p:nvSpPr>
        <p:spPr>
          <a:xfrm>
            <a:off x="6766560" y="1005840"/>
            <a:ext cx="2926080" cy="2926080"/>
          </a:xfrm>
          <a:prstGeom prst="ellipse">
            <a:avLst/>
          </a:prstGeom>
          <a:solidFill>
            <a:srgbClr val="0E9F9A">
              <a:alpha val="40000"/>
            </a:srgbClr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Graduation c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691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8229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College Feedback Intelligence System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NLP-Based Student Feedback Analysis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Shreyansh Sinha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23FE10CDS00513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B.Tech CSE – Data Science | Batch F</a:t>
            </a:r>
            <a:endParaRPr lang="en-US" sz="18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Problem row 1"/>
          <p:cNvSpPr/>
          <p:nvPr/>
        </p:nvSpPr>
        <p:spPr>
          <a:xfrm>
            <a:off x="548640" y="1371600"/>
            <a:ext cx="804672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aClipboardL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Colleges receive a large amount of student feedback through surveys and forms.</a:t>
            </a:r>
            <a:endParaRPr lang="en-US" sz="1500" dirty="0"/>
          </a:p>
        </p:txBody>
      </p:sp>
      <p:sp>
        <p:nvSpPr>
          <p:cNvPr id="7" name="Problem row 2"/>
          <p:cNvSpPr/>
          <p:nvPr/>
        </p:nvSpPr>
        <p:spPr>
          <a:xfrm>
            <a:off x="548640" y="2194560"/>
            <a:ext cx="804672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con circle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FaC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4117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1945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Manually reading and analyzing large volumes of feedback is time-consuming.</a:t>
            </a:r>
            <a:endParaRPr lang="en-US" sz="1500" dirty="0"/>
          </a:p>
        </p:txBody>
      </p:sp>
      <p:sp>
        <p:nvSpPr>
          <p:cNvPr id="11" name="Problem row 3"/>
          <p:cNvSpPr/>
          <p:nvPr/>
        </p:nvSpPr>
        <p:spPr>
          <a:xfrm>
            <a:off x="548640" y="3017520"/>
            <a:ext cx="804672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Icon circle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FaSear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3469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0175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Important concerns and positive trends can be difficult to identify quickly.</a:t>
            </a:r>
            <a:endParaRPr lang="en-US" sz="1500" dirty="0"/>
          </a:p>
        </p:txBody>
      </p:sp>
      <p:sp>
        <p:nvSpPr>
          <p:cNvPr id="15" name="Solution row"/>
          <p:cNvSpPr/>
          <p:nvPr/>
        </p:nvSpPr>
        <p:spPr>
          <a:xfrm>
            <a:off x="548640" y="3840480"/>
            <a:ext cx="804672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1B2F5B"/>
          </a:solidFill>
          <a:ln w="12700">
            <a:solidFill>
              <a:srgbClr val="1B2F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FaRob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05765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38404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Automated NLP-based analysis can summarize feedback and highlight areas that need attention.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3" name="Objective 1"/>
          <p:cNvSpPr/>
          <p:nvPr/>
        </p:nvSpPr>
        <p:spPr>
          <a:xfrm>
            <a:off x="548640" y="137160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731520" y="1623060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aLangu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7373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Process student feedback using Natural Language Processing.</a:t>
            </a:r>
            <a:endParaRPr lang="en-US" sz="1500" dirty="0"/>
          </a:p>
        </p:txBody>
      </p:sp>
      <p:sp>
        <p:nvSpPr>
          <p:cNvPr id="7" name="Objective 2"/>
          <p:cNvSpPr/>
          <p:nvPr/>
        </p:nvSpPr>
        <p:spPr>
          <a:xfrm>
            <a:off x="4663440" y="137160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con circle"/>
          <p:cNvSpPr/>
          <p:nvPr/>
        </p:nvSpPr>
        <p:spPr>
          <a:xfrm>
            <a:off x="4846320" y="1623060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FaTag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17373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371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Classify feedback as Positive, Negative, or Neutral.</a:t>
            </a:r>
            <a:endParaRPr lang="en-US" sz="1500" dirty="0"/>
          </a:p>
        </p:txBody>
      </p:sp>
      <p:sp>
        <p:nvSpPr>
          <p:cNvPr id="11" name="Objective 3"/>
          <p:cNvSpPr/>
          <p:nvPr/>
        </p:nvSpPr>
        <p:spPr>
          <a:xfrm>
            <a:off x="548640" y="246888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Icon circle"/>
          <p:cNvSpPr/>
          <p:nvPr/>
        </p:nvSpPr>
        <p:spPr>
          <a:xfrm>
            <a:off x="731520" y="2720340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FaSear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283464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468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Identify major college-related aspects discussed in feedback.</a:t>
            </a:r>
            <a:endParaRPr lang="en-US" sz="1500" dirty="0"/>
          </a:p>
        </p:txBody>
      </p:sp>
      <p:sp>
        <p:nvSpPr>
          <p:cNvPr id="15" name="Objective 4"/>
          <p:cNvSpPr/>
          <p:nvPr/>
        </p:nvSpPr>
        <p:spPr>
          <a:xfrm>
            <a:off x="4663440" y="246888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4846320" y="2720340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FaChartPi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28346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0" y="2468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Create visual dashboards for easier interpretation.</a:t>
            </a:r>
            <a:endParaRPr lang="en-US" sz="1500" dirty="0"/>
          </a:p>
        </p:txBody>
      </p:sp>
      <p:sp>
        <p:nvSpPr>
          <p:cNvPr id="19" name="Objective 5"/>
          <p:cNvSpPr/>
          <p:nvPr/>
        </p:nvSpPr>
        <p:spPr>
          <a:xfrm>
            <a:off x="548640" y="356616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Icon circle"/>
          <p:cNvSpPr/>
          <p:nvPr/>
        </p:nvSpPr>
        <p:spPr>
          <a:xfrm>
            <a:off x="731520" y="3817620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FaLightbul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39319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Generate useful feedback insights.</a:t>
            </a:r>
            <a:endParaRPr lang="en-US" sz="1500" dirty="0"/>
          </a:p>
        </p:txBody>
      </p:sp>
      <p:sp>
        <p:nvSpPr>
          <p:cNvPr id="23" name="Objective 6"/>
          <p:cNvSpPr/>
          <p:nvPr/>
        </p:nvSpPr>
        <p:spPr>
          <a:xfrm>
            <a:off x="4663440" y="356616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Icon circle"/>
          <p:cNvSpPr/>
          <p:nvPr/>
        </p:nvSpPr>
        <p:spPr>
          <a:xfrm>
            <a:off x="4846320" y="3817620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FaFileDownloa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0620" y="393192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Provide an analyzed, downloadable feedback report.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Proposed Solution</a:t>
            </a:r>
            <a:endParaRPr lang="en-US" sz="3200" dirty="0"/>
          </a:p>
        </p:txBody>
      </p:sp>
      <p:sp>
        <p:nvSpPr>
          <p:cNvPr id="3" name="Step CSV Upload"/>
          <p:cNvSpPr txBox="1"/>
          <p:nvPr/>
        </p:nvSpPr>
        <p:spPr>
          <a:xfrm>
            <a:off x="548640" y="137160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CSV Upload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13716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5" name="Step Text Preprocessing"/>
          <p:cNvSpPr txBox="1"/>
          <p:nvPr/>
        </p:nvSpPr>
        <p:spPr>
          <a:xfrm>
            <a:off x="2651760" y="137160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Text Preprocessing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3716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tep TF-IDF"/>
          <p:cNvSpPr txBox="1"/>
          <p:nvPr/>
        </p:nvSpPr>
        <p:spPr>
          <a:xfrm>
            <a:off x="4754880" y="137160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TF-IDF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3716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tep Logistic Regression"/>
          <p:cNvSpPr txBox="1"/>
          <p:nvPr/>
        </p:nvSpPr>
        <p:spPr>
          <a:xfrm>
            <a:off x="6858000" y="137160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10" name="Step Sentiment Prediction"/>
          <p:cNvSpPr txBox="1"/>
          <p:nvPr/>
        </p:nvSpPr>
        <p:spPr>
          <a:xfrm>
            <a:off x="548640" y="224028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Sentiment Prediction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240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tep Aspect Detection"/>
          <p:cNvSpPr txBox="1"/>
          <p:nvPr/>
        </p:nvSpPr>
        <p:spPr>
          <a:xfrm>
            <a:off x="2651760" y="224028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Aspect Detection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240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tep Visualizations"/>
          <p:cNvSpPr txBox="1"/>
          <p:nvPr/>
        </p:nvSpPr>
        <p:spPr>
          <a:xfrm>
            <a:off x="4754880" y="224028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Visualizations</a:t>
            </a:r>
            <a:endParaRPr lang="en-US" sz="1400" dirty="0"/>
          </a:p>
        </p:txBody>
      </p:sp>
      <p:sp>
        <p:nvSpPr>
          <p:cNvPr id="15" name="Step Key Insights"/>
          <p:cNvSpPr txBox="1"/>
          <p:nvPr/>
        </p:nvSpPr>
        <p:spPr>
          <a:xfrm>
            <a:off x="548640" y="310896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31089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tep Downloadable Feedback Report"/>
          <p:cNvSpPr txBox="1"/>
          <p:nvPr/>
        </p:nvSpPr>
        <p:spPr>
          <a:xfrm>
            <a:off x="2651760" y="310896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Downloadable Feedback Report</a:t>
            </a:r>
            <a:endParaRPr lang="en-US" sz="1400" dirty="0"/>
          </a:p>
        </p:txBody>
      </p:sp>
      <p:sp>
        <p:nvSpPr>
          <p:cNvPr id="18" name="Summary bar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7724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The system provides an end-to-end workflow from raw feedback to actionable analysis.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3" name="Tech Python"/>
          <p:cNvSpPr/>
          <p:nvPr/>
        </p:nvSpPr>
        <p:spPr>
          <a:xfrm>
            <a:off x="548640" y="1371600"/>
            <a:ext cx="39319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685800" y="1499616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a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613916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Python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core development language</a:t>
            </a:r>
            <a:endParaRPr lang="en-US" sz="1400" dirty="0"/>
          </a:p>
        </p:txBody>
      </p:sp>
      <p:sp>
        <p:nvSpPr>
          <p:cNvPr id="7" name="Tech Pandas &amp; NumPy"/>
          <p:cNvSpPr/>
          <p:nvPr/>
        </p:nvSpPr>
        <p:spPr>
          <a:xfrm>
            <a:off x="4663440" y="1371600"/>
            <a:ext cx="39319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con circle"/>
          <p:cNvSpPr/>
          <p:nvPr/>
        </p:nvSpPr>
        <p:spPr>
          <a:xfrm>
            <a:off x="4800600" y="1499616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Fa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613916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94960" y="13716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Pandas &amp; NumPy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data handling and numerical operations</a:t>
            </a:r>
            <a:endParaRPr lang="en-US" sz="1400" dirty="0"/>
          </a:p>
        </p:txBody>
      </p:sp>
      <p:sp>
        <p:nvSpPr>
          <p:cNvPr id="11" name="Tech NLTK"/>
          <p:cNvSpPr/>
          <p:nvPr/>
        </p:nvSpPr>
        <p:spPr>
          <a:xfrm>
            <a:off x="548640" y="2194560"/>
            <a:ext cx="39319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Icon circle"/>
          <p:cNvSpPr/>
          <p:nvPr/>
        </p:nvSpPr>
        <p:spPr>
          <a:xfrm>
            <a:off x="685800" y="2322576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FaLangu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43687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1945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NLTK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tokenization and stopword removal</a:t>
            </a:r>
            <a:endParaRPr lang="en-US" sz="1400" dirty="0"/>
          </a:p>
        </p:txBody>
      </p:sp>
      <p:sp>
        <p:nvSpPr>
          <p:cNvPr id="15" name="Tech Scikit-learn"/>
          <p:cNvSpPr/>
          <p:nvPr/>
        </p:nvSpPr>
        <p:spPr>
          <a:xfrm>
            <a:off x="4663440" y="2194560"/>
            <a:ext cx="39319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4800600" y="2322576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FaBra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2436876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21945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Scikit-learn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TF-IDF and Logistic Regression</a:t>
            </a:r>
            <a:endParaRPr lang="en-US" sz="1400" dirty="0"/>
          </a:p>
        </p:txBody>
      </p:sp>
      <p:sp>
        <p:nvSpPr>
          <p:cNvPr id="19" name="Tech Plotly"/>
          <p:cNvSpPr/>
          <p:nvPr/>
        </p:nvSpPr>
        <p:spPr>
          <a:xfrm>
            <a:off x="548640" y="3017520"/>
            <a:ext cx="39319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Icon circle"/>
          <p:cNvSpPr/>
          <p:nvPr/>
        </p:nvSpPr>
        <p:spPr>
          <a:xfrm>
            <a:off x="685800" y="3145536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FaChartB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259836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30175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Plotly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interactive visualizations</a:t>
            </a:r>
            <a:endParaRPr lang="en-US" sz="1400" dirty="0"/>
          </a:p>
        </p:txBody>
      </p:sp>
      <p:sp>
        <p:nvSpPr>
          <p:cNvPr id="23" name="Tech Streamlit"/>
          <p:cNvSpPr/>
          <p:nvPr/>
        </p:nvSpPr>
        <p:spPr>
          <a:xfrm>
            <a:off x="4663440" y="3017520"/>
            <a:ext cx="39319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Icon circle"/>
          <p:cNvSpPr/>
          <p:nvPr/>
        </p:nvSpPr>
        <p:spPr>
          <a:xfrm>
            <a:off x="4800600" y="3145536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FaDesktop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3259836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94960" y="30175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Streamlit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web application interface</a:t>
            </a:r>
            <a:endParaRPr lang="en-US" sz="1400" dirty="0"/>
          </a:p>
        </p:txBody>
      </p:sp>
      <p:sp>
        <p:nvSpPr>
          <p:cNvPr id="27" name="Tech Joblib"/>
          <p:cNvSpPr/>
          <p:nvPr/>
        </p:nvSpPr>
        <p:spPr>
          <a:xfrm>
            <a:off x="548640" y="3840480"/>
            <a:ext cx="39319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Icon circle"/>
          <p:cNvSpPr/>
          <p:nvPr/>
        </p:nvSpPr>
        <p:spPr>
          <a:xfrm>
            <a:off x="685800" y="3968496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6" descr="FaSav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082796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280160" y="38404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Joblib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model and vectorizer persistence</a:t>
            </a:r>
            <a:endParaRPr lang="en-US" sz="1400" dirty="0"/>
          </a:p>
        </p:txBody>
      </p:sp>
      <p:sp>
        <p:nvSpPr>
          <p:cNvPr id="31" name="Tech GitHub + Streamlit Community Cloud"/>
          <p:cNvSpPr/>
          <p:nvPr/>
        </p:nvSpPr>
        <p:spPr>
          <a:xfrm>
            <a:off x="4663440" y="3840480"/>
            <a:ext cx="39319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Icon circle"/>
          <p:cNvSpPr/>
          <p:nvPr/>
        </p:nvSpPr>
        <p:spPr>
          <a:xfrm>
            <a:off x="4800600" y="3968496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7" descr="FaGithub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4082796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394960" y="38404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GitHub + Streamlit Community Cloud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version control and deployment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Workflow</a:t>
            </a:r>
            <a:endParaRPr lang="en-US" sz="3200" dirty="0"/>
          </a:p>
        </p:txBody>
      </p:sp>
      <p:sp>
        <p:nvSpPr>
          <p:cNvPr id="3" name="Workflow step 1"/>
          <p:cNvSpPr/>
          <p:nvPr/>
        </p:nvSpPr>
        <p:spPr>
          <a:xfrm>
            <a:off x="548640" y="137160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Number 1"/>
          <p:cNvSpPr txBox="1"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Upload student feedback CSV</a:t>
            </a:r>
            <a:endParaRPr lang="en-US" sz="1400" dirty="0"/>
          </a:p>
        </p:txBody>
      </p:sp>
      <p:sp>
        <p:nvSpPr>
          <p:cNvPr id="6" name="Workflow step 2"/>
          <p:cNvSpPr/>
          <p:nvPr/>
        </p:nvSpPr>
        <p:spPr>
          <a:xfrm>
            <a:off x="2606040" y="137160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Number 2"/>
          <p:cNvSpPr txBox="1"/>
          <p:nvPr/>
        </p:nvSpPr>
        <p:spPr>
          <a:xfrm>
            <a:off x="2743200" y="1508760"/>
            <a:ext cx="411480" cy="41148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1168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Detect the feedback column</a:t>
            </a:r>
            <a:endParaRPr lang="en-US" sz="1400" dirty="0"/>
          </a:p>
        </p:txBody>
      </p:sp>
      <p:sp>
        <p:nvSpPr>
          <p:cNvPr id="9" name="Workflow step 3"/>
          <p:cNvSpPr/>
          <p:nvPr/>
        </p:nvSpPr>
        <p:spPr>
          <a:xfrm>
            <a:off x="4663440" y="137160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ber 3"/>
          <p:cNvSpPr txBox="1"/>
          <p:nvPr/>
        </p:nvSpPr>
        <p:spPr>
          <a:xfrm>
            <a:off x="4800600" y="1508760"/>
            <a:ext cx="411480" cy="41148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1168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Preprocess, tokenize, and remove stopwords</a:t>
            </a:r>
            <a:endParaRPr lang="en-US" sz="1400" dirty="0"/>
          </a:p>
        </p:txBody>
      </p:sp>
      <p:sp>
        <p:nvSpPr>
          <p:cNvPr id="12" name="Workflow step 4"/>
          <p:cNvSpPr/>
          <p:nvPr/>
        </p:nvSpPr>
        <p:spPr>
          <a:xfrm>
            <a:off x="6720840" y="137160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ber 4"/>
          <p:cNvSpPr txBox="1"/>
          <p:nvPr/>
        </p:nvSpPr>
        <p:spPr>
          <a:xfrm>
            <a:off x="6858000" y="1508760"/>
            <a:ext cx="411480" cy="41148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01168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Convert text into TF-IDF features</a:t>
            </a:r>
            <a:endParaRPr lang="en-US" sz="1400" dirty="0"/>
          </a:p>
        </p:txBody>
      </p:sp>
      <p:sp>
        <p:nvSpPr>
          <p:cNvPr id="15" name="Workflow step 5"/>
          <p:cNvSpPr/>
          <p:nvPr/>
        </p:nvSpPr>
        <p:spPr>
          <a:xfrm>
            <a:off x="548640" y="301752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ber 5"/>
          <p:cNvSpPr txBox="1"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6576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Predict Positive / Negative / Neutral sentiment</a:t>
            </a:r>
            <a:endParaRPr lang="en-US" sz="1400" dirty="0"/>
          </a:p>
        </p:txBody>
      </p:sp>
      <p:sp>
        <p:nvSpPr>
          <p:cNvPr id="18" name="Workflow step 6"/>
          <p:cNvSpPr/>
          <p:nvPr/>
        </p:nvSpPr>
        <p:spPr>
          <a:xfrm>
            <a:off x="2606040" y="301752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Number 6"/>
          <p:cNvSpPr txBox="1"/>
          <p:nvPr/>
        </p:nvSpPr>
        <p:spPr>
          <a:xfrm>
            <a:off x="2743200" y="3154680"/>
            <a:ext cx="411480" cy="411480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6576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Detect the college aspect using keywords</a:t>
            </a:r>
            <a:endParaRPr lang="en-US" sz="1400" dirty="0"/>
          </a:p>
        </p:txBody>
      </p:sp>
      <p:sp>
        <p:nvSpPr>
          <p:cNvPr id="21" name="Workflow step 7"/>
          <p:cNvSpPr/>
          <p:nvPr/>
        </p:nvSpPr>
        <p:spPr>
          <a:xfrm>
            <a:off x="4663440" y="301752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umber 7"/>
          <p:cNvSpPr txBox="1"/>
          <p:nvPr/>
        </p:nvSpPr>
        <p:spPr>
          <a:xfrm>
            <a:off x="4800600" y="3154680"/>
            <a:ext cx="411480" cy="411480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6576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Generate charts and insights</a:t>
            </a:r>
            <a:endParaRPr lang="en-US" sz="1400" dirty="0"/>
          </a:p>
        </p:txBody>
      </p:sp>
      <p:sp>
        <p:nvSpPr>
          <p:cNvPr id="24" name="Workflow step 8"/>
          <p:cNvSpPr/>
          <p:nvPr/>
        </p:nvSpPr>
        <p:spPr>
          <a:xfrm>
            <a:off x="6720840" y="301752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Number 8"/>
          <p:cNvSpPr txBox="1"/>
          <p:nvPr/>
        </p:nvSpPr>
        <p:spPr>
          <a:xfrm>
            <a:off x="6858000" y="3154680"/>
            <a:ext cx="411480" cy="411480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6576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Display and download the analyzed report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NLP Preprocessing</a:t>
            </a:r>
            <a:endParaRPr lang="en-US" sz="3200" dirty="0"/>
          </a:p>
        </p:txBody>
      </p:sp>
      <p:sp>
        <p:nvSpPr>
          <p:cNvPr id="3" name="Preprocessing step 1"/>
          <p:cNvSpPr/>
          <p:nvPr/>
        </p:nvSpPr>
        <p:spPr>
          <a:xfrm>
            <a:off x="548640" y="137160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Number 1"/>
          <p:cNvSpPr txBox="1"/>
          <p:nvPr/>
        </p:nvSpPr>
        <p:spPr>
          <a:xfrm>
            <a:off x="658368" y="1417320"/>
            <a:ext cx="365760" cy="36576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Convert feedback text to lowercase.</a:t>
            </a:r>
            <a:endParaRPr lang="en-US" sz="1500" dirty="0"/>
          </a:p>
        </p:txBody>
      </p:sp>
      <p:sp>
        <p:nvSpPr>
          <p:cNvPr id="6" name="Preprocessing step 2"/>
          <p:cNvSpPr/>
          <p:nvPr/>
        </p:nvSpPr>
        <p:spPr>
          <a:xfrm>
            <a:off x="548640" y="192024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Number 2"/>
          <p:cNvSpPr txBox="1"/>
          <p:nvPr/>
        </p:nvSpPr>
        <p:spPr>
          <a:xfrm>
            <a:off x="658368" y="1965960"/>
            <a:ext cx="365760" cy="36576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20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Remove unnecessary characters using regular expressions.</a:t>
            </a:r>
            <a:endParaRPr lang="en-US" sz="1500" dirty="0"/>
          </a:p>
        </p:txBody>
      </p:sp>
      <p:sp>
        <p:nvSpPr>
          <p:cNvPr id="9" name="Preprocessing step 3"/>
          <p:cNvSpPr/>
          <p:nvPr/>
        </p:nvSpPr>
        <p:spPr>
          <a:xfrm>
            <a:off x="548640" y="246888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ber 3"/>
          <p:cNvSpPr txBox="1"/>
          <p:nvPr/>
        </p:nvSpPr>
        <p:spPr>
          <a:xfrm>
            <a:off x="658368" y="2514600"/>
            <a:ext cx="365760" cy="36576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688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Tokenize the text into individual words.</a:t>
            </a:r>
            <a:endParaRPr lang="en-US" sz="1500" dirty="0"/>
          </a:p>
        </p:txBody>
      </p:sp>
      <p:sp>
        <p:nvSpPr>
          <p:cNvPr id="12" name="Preprocessing step 4"/>
          <p:cNvSpPr/>
          <p:nvPr/>
        </p:nvSpPr>
        <p:spPr>
          <a:xfrm>
            <a:off x="548640" y="301752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ber 4"/>
          <p:cNvSpPr txBox="1"/>
          <p:nvPr/>
        </p:nvSpPr>
        <p:spPr>
          <a:xfrm>
            <a:off x="658368" y="3063240"/>
            <a:ext cx="365760" cy="36576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0175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Remove common English stopwords.</a:t>
            </a:r>
            <a:endParaRPr lang="en-US" sz="1500" dirty="0"/>
          </a:p>
        </p:txBody>
      </p:sp>
      <p:sp>
        <p:nvSpPr>
          <p:cNvPr id="15" name="Preprocessing step 5"/>
          <p:cNvSpPr/>
          <p:nvPr/>
        </p:nvSpPr>
        <p:spPr>
          <a:xfrm>
            <a:off x="548640" y="356616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umber 5"/>
          <p:cNvSpPr txBox="1"/>
          <p:nvPr/>
        </p:nvSpPr>
        <p:spPr>
          <a:xfrm>
            <a:off x="658368" y="3611880"/>
            <a:ext cx="365760" cy="36576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5661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Join the remaining tokens to create cleaned feedback.</a:t>
            </a:r>
            <a:endParaRPr lang="en-US" sz="1500" dirty="0"/>
          </a:p>
        </p:txBody>
      </p:sp>
      <p:sp>
        <p:nvSpPr>
          <p:cNvPr id="18" name="Preprocessing step 6"/>
          <p:cNvSpPr/>
          <p:nvPr/>
        </p:nvSpPr>
        <p:spPr>
          <a:xfrm>
            <a:off x="548640" y="411480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Number 6"/>
          <p:cNvSpPr txBox="1"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1B2F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1148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Use the cleaned text as input to the TF-IDF vectorizer.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Sentiment Classification</a:t>
            </a:r>
            <a:endParaRPr lang="en-US" sz="3200" dirty="0"/>
          </a:p>
        </p:txBody>
      </p:sp>
      <p:sp>
        <p:nvSpPr>
          <p:cNvPr id="3" name="Sentiment point 1"/>
          <p:cNvSpPr/>
          <p:nvPr/>
        </p:nvSpPr>
        <p:spPr>
          <a:xfrm>
            <a:off x="548640" y="1371600"/>
            <a:ext cx="52120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aCalcula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6230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TF-IDF converts text into numerical features based on word importance.</a:t>
            </a:r>
            <a:endParaRPr lang="en-US" sz="1400" dirty="0"/>
          </a:p>
        </p:txBody>
      </p:sp>
      <p:sp>
        <p:nvSpPr>
          <p:cNvPr id="7" name="Sentiment point 2"/>
          <p:cNvSpPr/>
          <p:nvPr/>
        </p:nvSpPr>
        <p:spPr>
          <a:xfrm>
            <a:off x="548640" y="2212848"/>
            <a:ext cx="52120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con circle"/>
          <p:cNvSpPr/>
          <p:nvPr/>
        </p:nvSpPr>
        <p:spPr>
          <a:xfrm>
            <a:off x="685800" y="2350008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FaBra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4643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2128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uses these features to classify feedback.</a:t>
            </a:r>
            <a:endParaRPr lang="en-US" sz="1400" dirty="0"/>
          </a:p>
        </p:txBody>
      </p:sp>
      <p:sp>
        <p:nvSpPr>
          <p:cNvPr id="11" name="Sentiment point 3"/>
          <p:cNvSpPr/>
          <p:nvPr/>
        </p:nvSpPr>
        <p:spPr>
          <a:xfrm>
            <a:off x="548640" y="3054096"/>
            <a:ext cx="52120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Icon circle"/>
          <p:cNvSpPr/>
          <p:nvPr/>
        </p:nvSpPr>
        <p:spPr>
          <a:xfrm>
            <a:off x="685800" y="3191256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FaTag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30555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05409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Three sentiment classes are used: Positive, Negative, and Neutral.</a:t>
            </a:r>
            <a:endParaRPr lang="en-US" sz="1400" dirty="0"/>
          </a:p>
        </p:txBody>
      </p:sp>
      <p:sp>
        <p:nvSpPr>
          <p:cNvPr id="15" name="Sentiment point 4"/>
          <p:cNvSpPr/>
          <p:nvPr/>
        </p:nvSpPr>
        <p:spPr>
          <a:xfrm>
            <a:off x="548640" y="3895344"/>
            <a:ext cx="52120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685800" y="4032504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FaSav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146804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389534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trained model and TF-IDF vectorizer are saved and loaded by the deployed application.</a:t>
            </a:r>
            <a:endParaRPr lang="en-US" sz="1400" dirty="0"/>
          </a:p>
        </p:txBody>
      </p:sp>
      <p:sp>
        <p:nvSpPr>
          <p:cNvPr id="19" name="Classes panel"/>
          <p:cNvSpPr/>
          <p:nvPr/>
        </p:nvSpPr>
        <p:spPr>
          <a:xfrm>
            <a:off x="6035040" y="1371600"/>
            <a:ext cx="2560320" cy="3163824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Positive pill"/>
          <p:cNvSpPr/>
          <p:nvPr/>
        </p:nvSpPr>
        <p:spPr>
          <a:xfrm>
            <a:off x="6263640" y="16002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Negative pill"/>
          <p:cNvSpPr/>
          <p:nvPr/>
        </p:nvSpPr>
        <p:spPr>
          <a:xfrm>
            <a:off x="6263640" y="256032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eutral pill"/>
          <p:cNvSpPr/>
          <p:nvPr/>
        </p:nvSpPr>
        <p:spPr>
          <a:xfrm>
            <a:off x="6263640" y="352044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4" descr="Positiv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182880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0372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Positive</a:t>
            </a:r>
            <a:endParaRPr lang="en-US" sz="1800" dirty="0"/>
          </a:p>
        </p:txBody>
      </p:sp>
      <p:pic>
        <p:nvPicPr>
          <p:cNvPr id="25" name="Image 5" descr="Negativ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78892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0372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Negative</a:t>
            </a:r>
            <a:endParaRPr lang="en-US" sz="1800" dirty="0"/>
          </a:p>
        </p:txBody>
      </p:sp>
      <p:pic>
        <p:nvPicPr>
          <p:cNvPr id="27" name="Image 6" descr="Neutra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3749040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903720" y="3520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Neutral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Aspect Detection</a:t>
            </a:r>
            <a:endParaRPr lang="en-US" sz="3200" dirty="0"/>
          </a:p>
        </p:txBody>
      </p:sp>
      <p:sp>
        <p:nvSpPr>
          <p:cNvPr id="3" name="Aspect point 1"/>
          <p:cNvSpPr/>
          <p:nvPr/>
        </p:nvSpPr>
        <p:spPr>
          <a:xfrm>
            <a:off x="548640" y="137160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aBui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7145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system identifies the college area discussed in each feedback response.</a:t>
            </a:r>
            <a:endParaRPr lang="en-US" sz="1400" dirty="0"/>
          </a:p>
        </p:txBody>
      </p:sp>
      <p:sp>
        <p:nvSpPr>
          <p:cNvPr id="7" name="Aspect point 2"/>
          <p:cNvSpPr/>
          <p:nvPr/>
        </p:nvSpPr>
        <p:spPr>
          <a:xfrm>
            <a:off x="4663440" y="137160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con circle"/>
          <p:cNvSpPr/>
          <p:nvPr/>
        </p:nvSpPr>
        <p:spPr>
          <a:xfrm>
            <a:off x="4846320" y="1600200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FaListU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17145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371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Current aspect detection uses predefined keywords and rules.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Examples:</a:t>
            </a:r>
            <a:endParaRPr lang="en-US" sz="1400" dirty="0"/>
          </a:p>
        </p:txBody>
      </p:sp>
      <p:sp>
        <p:nvSpPr>
          <p:cNvPr id="12" name="Aspect chip Faculty"/>
          <p:cNvSpPr txBox="1"/>
          <p:nvPr/>
        </p:nvSpPr>
        <p:spPr>
          <a:xfrm>
            <a:off x="548640" y="2834640"/>
            <a:ext cx="1019556" cy="36576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Faculty</a:t>
            </a:r>
            <a:endParaRPr lang="en-US" sz="1300" dirty="0"/>
          </a:p>
        </p:txBody>
      </p:sp>
      <p:sp>
        <p:nvSpPr>
          <p:cNvPr id="13" name="Aspect chip Teaching"/>
          <p:cNvSpPr txBox="1"/>
          <p:nvPr/>
        </p:nvSpPr>
        <p:spPr>
          <a:xfrm>
            <a:off x="1705356" y="2834640"/>
            <a:ext cx="1106424" cy="365760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Teaching</a:t>
            </a:r>
            <a:endParaRPr lang="en-US" sz="1300" dirty="0"/>
          </a:p>
        </p:txBody>
      </p:sp>
      <p:sp>
        <p:nvSpPr>
          <p:cNvPr id="14" name="Aspect chip Laboratory"/>
          <p:cNvSpPr txBox="1"/>
          <p:nvPr/>
        </p:nvSpPr>
        <p:spPr>
          <a:xfrm>
            <a:off x="2948940" y="28346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Laboratory</a:t>
            </a:r>
            <a:endParaRPr lang="en-US" sz="1300" dirty="0"/>
          </a:p>
        </p:txBody>
      </p:sp>
      <p:sp>
        <p:nvSpPr>
          <p:cNvPr id="15" name="Aspect chip WiFi"/>
          <p:cNvSpPr txBox="1"/>
          <p:nvPr/>
        </p:nvSpPr>
        <p:spPr>
          <a:xfrm>
            <a:off x="4366260" y="2834640"/>
            <a:ext cx="758952" cy="365760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WiFi</a:t>
            </a:r>
            <a:endParaRPr lang="en-US" sz="1300" dirty="0"/>
          </a:p>
        </p:txBody>
      </p:sp>
      <p:sp>
        <p:nvSpPr>
          <p:cNvPr id="16" name="Aspect chip Library"/>
          <p:cNvSpPr txBox="1"/>
          <p:nvPr/>
        </p:nvSpPr>
        <p:spPr>
          <a:xfrm>
            <a:off x="5262372" y="2834640"/>
            <a:ext cx="1019556" cy="36576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Library</a:t>
            </a:r>
            <a:endParaRPr lang="en-US" sz="1300" dirty="0"/>
          </a:p>
        </p:txBody>
      </p:sp>
      <p:sp>
        <p:nvSpPr>
          <p:cNvPr id="17" name="Aspect chip Hostel"/>
          <p:cNvSpPr txBox="1"/>
          <p:nvPr/>
        </p:nvSpPr>
        <p:spPr>
          <a:xfrm>
            <a:off x="6419088" y="283464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Hostel</a:t>
            </a:r>
            <a:endParaRPr lang="en-US" sz="1300" dirty="0"/>
          </a:p>
        </p:txBody>
      </p:sp>
      <p:sp>
        <p:nvSpPr>
          <p:cNvPr id="18" name="Aspect chip Canteen"/>
          <p:cNvSpPr txBox="1"/>
          <p:nvPr/>
        </p:nvSpPr>
        <p:spPr>
          <a:xfrm>
            <a:off x="7488936" y="2834640"/>
            <a:ext cx="1019556" cy="36576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Canteen</a:t>
            </a:r>
            <a:endParaRPr lang="en-US" sz="1300" dirty="0"/>
          </a:p>
        </p:txBody>
      </p:sp>
      <p:sp>
        <p:nvSpPr>
          <p:cNvPr id="19" name="Aspect chip Placement"/>
          <p:cNvSpPr txBox="1"/>
          <p:nvPr/>
        </p:nvSpPr>
        <p:spPr>
          <a:xfrm>
            <a:off x="548640" y="3291840"/>
            <a:ext cx="1193292" cy="365760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Placement</a:t>
            </a:r>
            <a:endParaRPr lang="en-US" sz="1300" dirty="0"/>
          </a:p>
        </p:txBody>
      </p:sp>
      <p:sp>
        <p:nvSpPr>
          <p:cNvPr id="20" name="Aspect chip Infrastructure"/>
          <p:cNvSpPr txBox="1"/>
          <p:nvPr/>
        </p:nvSpPr>
        <p:spPr>
          <a:xfrm>
            <a:off x="1879092" y="329184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Infrastructure</a:t>
            </a:r>
            <a:endParaRPr lang="en-US" sz="1300" dirty="0"/>
          </a:p>
        </p:txBody>
      </p:sp>
      <p:sp>
        <p:nvSpPr>
          <p:cNvPr id="21" name="Aspect chip Course"/>
          <p:cNvSpPr txBox="1"/>
          <p:nvPr/>
        </p:nvSpPr>
        <p:spPr>
          <a:xfrm>
            <a:off x="3643884" y="329184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Course</a:t>
            </a:r>
            <a:endParaRPr lang="en-US" sz="1300" dirty="0"/>
          </a:p>
        </p:txBody>
      </p:sp>
      <p:sp>
        <p:nvSpPr>
          <p:cNvPr id="22" name="Aspect chip Examination"/>
          <p:cNvSpPr txBox="1"/>
          <p:nvPr/>
        </p:nvSpPr>
        <p:spPr>
          <a:xfrm>
            <a:off x="4713732" y="3291840"/>
            <a:ext cx="1367028" cy="36576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Examination</a:t>
            </a:r>
            <a:endParaRPr lang="en-US" sz="1300" dirty="0"/>
          </a:p>
        </p:txBody>
      </p:sp>
      <p:sp>
        <p:nvSpPr>
          <p:cNvPr id="23" name="Callout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 txBox="1"/>
          <p:nvPr/>
        </p:nvSpPr>
        <p:spPr>
          <a:xfrm>
            <a:off x="77724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Aspect detection is rule-based, while sentiment classification is ML-based.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Application Dashboard</a:t>
            </a:r>
            <a:endParaRPr lang="en-US" sz="3200" dirty="0"/>
          </a:p>
        </p:txBody>
      </p:sp>
      <p:sp>
        <p:nvSpPr>
          <p:cNvPr id="3" name="Dashboard feature 1"/>
          <p:cNvSpPr/>
          <p:nvPr/>
        </p:nvSpPr>
        <p:spPr>
          <a:xfrm>
            <a:off x="548640" y="1325880"/>
            <a:ext cx="512064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640080" y="1362456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aUplo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458468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25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Upload a student feedback CSV.</a:t>
            </a:r>
            <a:endParaRPr lang="en-US" sz="1400" dirty="0"/>
          </a:p>
        </p:txBody>
      </p:sp>
      <p:sp>
        <p:nvSpPr>
          <p:cNvPr id="7" name="Dashboard feature 2"/>
          <p:cNvSpPr/>
          <p:nvPr/>
        </p:nvSpPr>
        <p:spPr>
          <a:xfrm>
            <a:off x="548640" y="1856232"/>
            <a:ext cx="512064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con circle"/>
          <p:cNvSpPr/>
          <p:nvPr/>
        </p:nvSpPr>
        <p:spPr>
          <a:xfrm>
            <a:off x="640080" y="1892808"/>
            <a:ext cx="384048" cy="384048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FaColum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1988820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856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Automatically detect the feedback column.</a:t>
            </a:r>
            <a:endParaRPr lang="en-US" sz="1400" dirty="0"/>
          </a:p>
        </p:txBody>
      </p:sp>
      <p:sp>
        <p:nvSpPr>
          <p:cNvPr id="11" name="Dashboard feature 3"/>
          <p:cNvSpPr/>
          <p:nvPr/>
        </p:nvSpPr>
        <p:spPr>
          <a:xfrm>
            <a:off x="548640" y="2386584"/>
            <a:ext cx="512064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Icon circle"/>
          <p:cNvSpPr/>
          <p:nvPr/>
        </p:nvSpPr>
        <p:spPr>
          <a:xfrm>
            <a:off x="640080" y="2423160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FaChart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2519172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386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View summary metrics and interactive charts.</a:t>
            </a:r>
            <a:endParaRPr lang="en-US" sz="1400" dirty="0"/>
          </a:p>
        </p:txBody>
      </p:sp>
      <p:sp>
        <p:nvSpPr>
          <p:cNvPr id="15" name="Dashboard feature 4"/>
          <p:cNvSpPr/>
          <p:nvPr/>
        </p:nvSpPr>
        <p:spPr>
          <a:xfrm>
            <a:off x="548640" y="2916936"/>
            <a:ext cx="512064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640080" y="2953512"/>
            <a:ext cx="384048" cy="384048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FaSearc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" y="3049524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2916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Inspect analyzed feedback and generated insights.</a:t>
            </a:r>
            <a:endParaRPr lang="en-US" sz="1400" dirty="0"/>
          </a:p>
        </p:txBody>
      </p:sp>
      <p:sp>
        <p:nvSpPr>
          <p:cNvPr id="19" name="Dashboard feature 5"/>
          <p:cNvSpPr/>
          <p:nvPr/>
        </p:nvSpPr>
        <p:spPr>
          <a:xfrm>
            <a:off x="548640" y="3447288"/>
            <a:ext cx="512064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Icon circle"/>
          <p:cNvSpPr/>
          <p:nvPr/>
        </p:nvSpPr>
        <p:spPr>
          <a:xfrm>
            <a:off x="640080" y="3483864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FaDownloa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" y="3579876"/>
            <a:ext cx="192024" cy="1920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3447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Download the analyzed feedback report.</a:t>
            </a:r>
            <a:endParaRPr lang="en-US" sz="1400" dirty="0"/>
          </a:p>
        </p:txBody>
      </p:sp>
      <p:sp>
        <p:nvSpPr>
          <p:cNvPr id="23" name="Browser mock"/>
          <p:cNvSpPr/>
          <p:nvPr/>
        </p:nvSpPr>
        <p:spPr>
          <a:xfrm>
            <a:off x="5943600" y="1325880"/>
            <a:ext cx="2651760" cy="2578608"/>
          </a:xfrm>
          <a:prstGeom prst="roundRect">
            <a:avLst>
              <a:gd name="adj" fmla="val 35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Window dot"/>
          <p:cNvSpPr/>
          <p:nvPr/>
        </p:nvSpPr>
        <p:spPr>
          <a:xfrm>
            <a:off x="6108192" y="1463040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Window dot"/>
          <p:cNvSpPr/>
          <p:nvPr/>
        </p:nvSpPr>
        <p:spPr>
          <a:xfrm>
            <a:off x="6291072" y="146304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Window dot"/>
          <p:cNvSpPr/>
          <p:nvPr/>
        </p:nvSpPr>
        <p:spPr>
          <a:xfrm>
            <a:off x="6473952" y="1463040"/>
            <a:ext cx="109728" cy="109728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Mock metric"/>
          <p:cNvSpPr/>
          <p:nvPr/>
        </p:nvSpPr>
        <p:spPr>
          <a:xfrm>
            <a:off x="6126480" y="1737360"/>
            <a:ext cx="731520" cy="502920"/>
          </a:xfrm>
          <a:prstGeom prst="roundRect">
            <a:avLst>
              <a:gd name="adj" fmla="val 18182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Mock metric"/>
          <p:cNvSpPr/>
          <p:nvPr/>
        </p:nvSpPr>
        <p:spPr>
          <a:xfrm>
            <a:off x="6931152" y="1737360"/>
            <a:ext cx="731520" cy="502920"/>
          </a:xfrm>
          <a:prstGeom prst="roundRect">
            <a:avLst>
              <a:gd name="adj" fmla="val 18182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Mock metric"/>
          <p:cNvSpPr/>
          <p:nvPr/>
        </p:nvSpPr>
        <p:spPr>
          <a:xfrm>
            <a:off x="7735824" y="1737360"/>
            <a:ext cx="731520" cy="502920"/>
          </a:xfrm>
          <a:prstGeom prst="roundRect">
            <a:avLst>
              <a:gd name="adj" fmla="val 18182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Mock bar"/>
          <p:cNvSpPr/>
          <p:nvPr/>
        </p:nvSpPr>
        <p:spPr>
          <a:xfrm>
            <a:off x="6172200" y="2926080"/>
            <a:ext cx="256032" cy="82296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Mock bar"/>
          <p:cNvSpPr/>
          <p:nvPr/>
        </p:nvSpPr>
        <p:spPr>
          <a:xfrm>
            <a:off x="6537960" y="3200400"/>
            <a:ext cx="256032" cy="54864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Mock bar"/>
          <p:cNvSpPr/>
          <p:nvPr/>
        </p:nvSpPr>
        <p:spPr>
          <a:xfrm>
            <a:off x="6903720" y="2651760"/>
            <a:ext cx="256032" cy="109728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Mock bar"/>
          <p:cNvSpPr/>
          <p:nvPr/>
        </p:nvSpPr>
        <p:spPr>
          <a:xfrm>
            <a:off x="7269480" y="3063240"/>
            <a:ext cx="256032" cy="68580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Mock pie"/>
          <p:cNvSpPr/>
          <p:nvPr/>
        </p:nvSpPr>
        <p:spPr>
          <a:xfrm>
            <a:off x="7726680" y="256032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Live link bar"/>
          <p:cNvSpPr/>
          <p:nvPr/>
        </p:nvSpPr>
        <p:spPr>
          <a:xfrm>
            <a:off x="548640" y="406908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 txBox="1"/>
          <p:nvPr/>
        </p:nvSpPr>
        <p:spPr>
          <a:xfrm>
            <a:off x="777240" y="4069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</a:rPr>
              <a:t>Live application: </a:t>
            </a:r>
            <a:r>
              <a:rPr lang="en-US" sz="1500" b="1" u="sng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college-feedback-intelligence.streamlit.app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Visual Analytics</a:t>
            </a:r>
            <a:endParaRPr lang="en-US" sz="3200" dirty="0"/>
          </a:p>
        </p:txBody>
      </p:sp>
      <p:sp>
        <p:nvSpPr>
          <p:cNvPr id="3" name="Analytics item 1"/>
          <p:cNvSpPr/>
          <p:nvPr/>
        </p:nvSpPr>
        <p:spPr>
          <a:xfrm>
            <a:off x="548640" y="137160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731520" y="1623060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aChartPi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7373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Overall sentiment distribution shows the balance of Positive, Negative, and Neutral responses.</a:t>
            </a:r>
            <a:endParaRPr lang="en-US" sz="1400" dirty="0"/>
          </a:p>
        </p:txBody>
      </p:sp>
      <p:sp>
        <p:nvSpPr>
          <p:cNvPr id="7" name="Analytics item 2"/>
          <p:cNvSpPr/>
          <p:nvPr/>
        </p:nvSpPr>
        <p:spPr>
          <a:xfrm>
            <a:off x="4663440" y="137160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con circle"/>
          <p:cNvSpPr/>
          <p:nvPr/>
        </p:nvSpPr>
        <p:spPr>
          <a:xfrm>
            <a:off x="4846320" y="1623060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FaTag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17373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371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College aspect analysis shows which areas are discussed most frequently.</a:t>
            </a:r>
            <a:endParaRPr lang="en-US" sz="1400" dirty="0"/>
          </a:p>
        </p:txBody>
      </p:sp>
      <p:sp>
        <p:nvSpPr>
          <p:cNvPr id="11" name="Analytics item 3"/>
          <p:cNvSpPr/>
          <p:nvPr/>
        </p:nvSpPr>
        <p:spPr>
          <a:xfrm>
            <a:off x="548640" y="246888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Icon circle"/>
          <p:cNvSpPr/>
          <p:nvPr/>
        </p:nvSpPr>
        <p:spPr>
          <a:xfrm>
            <a:off x="731520" y="2720340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FaChartB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283464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Sentiment-by-aspect charts compare feedback across different college areas.</a:t>
            </a:r>
            <a:endParaRPr lang="en-US" sz="1400" dirty="0"/>
          </a:p>
        </p:txBody>
      </p:sp>
      <p:sp>
        <p:nvSpPr>
          <p:cNvPr id="15" name="Analytics item 4"/>
          <p:cNvSpPr/>
          <p:nvPr/>
        </p:nvSpPr>
        <p:spPr>
          <a:xfrm>
            <a:off x="4663440" y="2468880"/>
            <a:ext cx="3931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4846320" y="2720340"/>
            <a:ext cx="45720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FaBorderAl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28346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Aspect vs Sentiment heatmap helps identify areas with higher positive or negative feedback.</a:t>
            </a:r>
            <a:endParaRPr lang="en-US" sz="1400" dirty="0"/>
          </a:p>
        </p:txBody>
      </p:sp>
      <p:sp>
        <p:nvSpPr>
          <p:cNvPr id="19" name="Analytics item 5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Icon circle"/>
          <p:cNvSpPr/>
          <p:nvPr/>
        </p:nvSpPr>
        <p:spPr>
          <a:xfrm>
            <a:off x="731520" y="3817620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FaBalanceSca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39319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356616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Positive and negative feedback are summarized separately.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 Performance</a:t>
            </a:r>
            <a:endParaRPr lang="en-US" sz="3200" dirty="0"/>
          </a:p>
        </p:txBody>
      </p:sp>
      <p:sp>
        <p:nvSpPr>
          <p:cNvPr id="3" name="Stat Accuracy"/>
          <p:cNvSpPr/>
          <p:nvPr/>
        </p:nvSpPr>
        <p:spPr>
          <a:xfrm>
            <a:off x="548640" y="13258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</a:rPr>
              <a:t>96.67%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Accuracy</a:t>
            </a:r>
            <a:endParaRPr lang="en-US" sz="1400" dirty="0"/>
          </a:p>
        </p:txBody>
      </p:sp>
      <p:sp>
        <p:nvSpPr>
          <p:cNvPr id="6" name="Stat Macro F1"/>
          <p:cNvSpPr/>
          <p:nvPr/>
        </p:nvSpPr>
        <p:spPr>
          <a:xfrm>
            <a:off x="3291840" y="13258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29184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</a:rPr>
              <a:t>0.97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Macro F1</a:t>
            </a:r>
            <a:endParaRPr lang="en-US" sz="1400" dirty="0"/>
          </a:p>
        </p:txBody>
      </p:sp>
      <p:sp>
        <p:nvSpPr>
          <p:cNvPr id="9" name="Stat Weighted F1"/>
          <p:cNvSpPr/>
          <p:nvPr/>
        </p:nvSpPr>
        <p:spPr>
          <a:xfrm>
            <a:off x="6035040" y="13258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03504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</a:rPr>
              <a:t>0.97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Weighted F1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8046720" cy="14630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5484D"/>
                          </a:solidFill>
                        </a:rPr>
                        <a:t>Negative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0.89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0.94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B57600"/>
                          </a:solidFill>
                        </a:rPr>
                        <a:t>Neutral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A866"/>
                          </a:solidFill>
                        </a:rPr>
                        <a:t>Positive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0.94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0.97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10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Test set size: 120 feedback responses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Confusion Matrix</a:t>
            </a:r>
            <a:endParaRPr lang="en-US" sz="3200" dirty="0"/>
          </a:p>
        </p:txBody>
      </p:sp>
      <p:sp>
        <p:nvSpPr>
          <p:cNvPr id="3" name="Matrix point 1"/>
          <p:cNvSpPr/>
          <p:nvPr/>
        </p:nvSpPr>
        <p:spPr>
          <a:xfrm>
            <a:off x="548640" y="137160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Number 1"/>
          <p:cNvSpPr txBox="1"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71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confusion matrix compares actual sentiment labels with predicted sentiment labels.</a:t>
            </a:r>
            <a:endParaRPr lang="en-US" sz="1400" dirty="0"/>
          </a:p>
        </p:txBody>
      </p:sp>
      <p:sp>
        <p:nvSpPr>
          <p:cNvPr id="6" name="Matrix point 2"/>
          <p:cNvSpPr/>
          <p:nvPr/>
        </p:nvSpPr>
        <p:spPr>
          <a:xfrm>
            <a:off x="548640" y="246888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Number 2"/>
          <p:cNvSpPr txBox="1"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It helps identify which classes are classified correctly and where misclassification occurs.</a:t>
            </a:r>
            <a:endParaRPr lang="en-US" sz="1400" dirty="0"/>
          </a:p>
        </p:txBody>
      </p:sp>
      <p:sp>
        <p:nvSpPr>
          <p:cNvPr id="9" name="Matrix point 3"/>
          <p:cNvSpPr/>
          <p:nvPr/>
        </p:nvSpPr>
        <p:spPr>
          <a:xfrm>
            <a:off x="548640" y="356616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ber 3"/>
          <p:cNvSpPr txBox="1"/>
          <p:nvPr/>
        </p:nvSpPr>
        <p:spPr>
          <a:xfrm>
            <a:off x="731520" y="3840480"/>
            <a:ext cx="411480" cy="411480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66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model shows strong overall classification performance on the test set.</a:t>
            </a:r>
            <a:endParaRPr lang="en-US" sz="1400" dirty="0"/>
          </a:p>
        </p:txBody>
      </p:sp>
      <p:sp>
        <p:nvSpPr>
          <p:cNvPr id="12" name="Image placeholder frame"/>
          <p:cNvSpPr/>
          <p:nvPr/>
        </p:nvSpPr>
        <p:spPr>
          <a:xfrm>
            <a:off x="4846320" y="1371600"/>
            <a:ext cx="3749040" cy="3154680"/>
          </a:xfrm>
          <a:prstGeom prst="roundRect">
            <a:avLst>
              <a:gd name="adj" fmla="val 2899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0" descr="Matrix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48840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120640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6"/>
                </a:solidFill>
              </a:rPr>
              <a:t>Use the saved confusion_matrix.png screenshot in this slide.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D34099-15CB-67E0-E4AF-50C0A8C94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9" y="1266091"/>
            <a:ext cx="3896751" cy="33410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Key Results &amp; Insights</a:t>
            </a:r>
            <a:endParaRPr lang="en-US" sz="3200" dirty="0"/>
          </a:p>
        </p:txBody>
      </p:sp>
      <p:sp>
        <p:nvSpPr>
          <p:cNvPr id="3" name="Result card 1"/>
          <p:cNvSpPr/>
          <p:nvPr/>
        </p:nvSpPr>
        <p:spPr>
          <a:xfrm>
            <a:off x="548640" y="1371600"/>
            <a:ext cx="1463040" cy="301752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960120" y="1554480"/>
            <a:ext cx="640080" cy="6400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aCrosshai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377440"/>
            <a:ext cx="12435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Most discussed aspect is identified automatically from uploaded feedback.</a:t>
            </a:r>
            <a:endParaRPr lang="en-US" sz="1400" dirty="0"/>
          </a:p>
        </p:txBody>
      </p:sp>
      <p:sp>
        <p:nvSpPr>
          <p:cNvPr id="7" name="Result card 2"/>
          <p:cNvSpPr/>
          <p:nvPr/>
        </p:nvSpPr>
        <p:spPr>
          <a:xfrm>
            <a:off x="2194560" y="1371600"/>
            <a:ext cx="1463040" cy="301752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con circle"/>
          <p:cNvSpPr/>
          <p:nvPr/>
        </p:nvSpPr>
        <p:spPr>
          <a:xfrm>
            <a:off x="2606040" y="1554480"/>
            <a:ext cx="640080" cy="64008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FaTroph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060" y="17145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04288" y="2377440"/>
            <a:ext cx="12435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Most positively received and most negatively discussed aspects are highlighted.</a:t>
            </a:r>
            <a:endParaRPr lang="en-US" sz="1400" dirty="0"/>
          </a:p>
        </p:txBody>
      </p:sp>
      <p:sp>
        <p:nvSpPr>
          <p:cNvPr id="11" name="Result card 3"/>
          <p:cNvSpPr/>
          <p:nvPr/>
        </p:nvSpPr>
        <p:spPr>
          <a:xfrm>
            <a:off x="3840480" y="1371600"/>
            <a:ext cx="1463040" cy="301752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Icon circle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FaList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17145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50208" y="2377440"/>
            <a:ext cx="12435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Overall Positive, Negative, and Neutral counts are displayed.</a:t>
            </a:r>
            <a:endParaRPr lang="en-US" sz="1400" dirty="0"/>
          </a:p>
        </p:txBody>
      </p:sp>
      <p:sp>
        <p:nvSpPr>
          <p:cNvPr id="15" name="Result card 4"/>
          <p:cNvSpPr/>
          <p:nvPr/>
        </p:nvSpPr>
        <p:spPr>
          <a:xfrm>
            <a:off x="5486400" y="1371600"/>
            <a:ext cx="1463040" cy="301752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5897880" y="1554480"/>
            <a:ext cx="640080" cy="64008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FaTab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17145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96128" y="2377440"/>
            <a:ext cx="12435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Feedback is presented in an analyzed table with sentiment and aspect labels.</a:t>
            </a:r>
            <a:endParaRPr lang="en-US" sz="1400" dirty="0"/>
          </a:p>
        </p:txBody>
      </p:sp>
      <p:sp>
        <p:nvSpPr>
          <p:cNvPr id="19" name="Result card 5"/>
          <p:cNvSpPr/>
          <p:nvPr/>
        </p:nvSpPr>
        <p:spPr>
          <a:xfrm>
            <a:off x="7132320" y="1371600"/>
            <a:ext cx="1463040" cy="301752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Icon circle"/>
          <p:cNvSpPr/>
          <p:nvPr/>
        </p:nvSpPr>
        <p:spPr>
          <a:xfrm>
            <a:off x="7543800" y="1554480"/>
            <a:ext cx="640080" cy="6400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FaFileCsv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3820" y="17145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42048" y="2377440"/>
            <a:ext cx="12435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analyzed dataset can be downloaded as a CSV report.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Deployment &amp; Future Scope</a:t>
            </a:r>
            <a:endParaRPr lang="en-US" sz="3200" dirty="0"/>
          </a:p>
        </p:txBody>
      </p:sp>
      <p:sp>
        <p:nvSpPr>
          <p:cNvPr id="3" name="Deployment panel"/>
          <p:cNvSpPr/>
          <p:nvPr/>
        </p:nvSpPr>
        <p:spPr>
          <a:xfrm>
            <a:off x="548640" y="1371600"/>
            <a:ext cx="3474720" cy="3154680"/>
          </a:xfrm>
          <a:prstGeom prst="roundRect">
            <a:avLst>
              <a:gd name="adj" fmla="val 28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FaClou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Deployment: </a:t>
            </a:r>
            <a:r>
              <a:rPr lang="en-US" sz="1600" b="1" dirty="0">
                <a:solidFill>
                  <a:schemeClr val="bg1"/>
                </a:solidFill>
              </a:rPr>
              <a:t>Streamlit Community Cloud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Live application: </a:t>
            </a:r>
            <a:endParaRPr lang="en-US" sz="1400" dirty="0"/>
          </a:p>
          <a:p>
            <a:pPr marL="0" indent="0" algn="l">
              <a:buNone/>
            </a:pPr>
            <a:r>
              <a:rPr lang="en-US" sz="12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college-feedback-intelligence.streamlit.app</a:t>
            </a:r>
            <a:endParaRPr lang="en-US" sz="1400" dirty="0"/>
          </a:p>
        </p:txBody>
      </p:sp>
      <p:sp>
        <p:nvSpPr>
          <p:cNvPr id="8" name="Future scope 1"/>
          <p:cNvSpPr/>
          <p:nvPr/>
        </p:nvSpPr>
        <p:spPr>
          <a:xfrm>
            <a:off x="4251960" y="1371600"/>
            <a:ext cx="43434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Number 1"/>
          <p:cNvSpPr txBox="1"/>
          <p:nvPr/>
        </p:nvSpPr>
        <p:spPr>
          <a:xfrm>
            <a:off x="4389120" y="1481328"/>
            <a:ext cx="347472" cy="347472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371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Transformer-based sentiment models for improved classification.</a:t>
            </a:r>
            <a:endParaRPr lang="en-US" sz="1300" dirty="0"/>
          </a:p>
        </p:txBody>
      </p:sp>
      <p:sp>
        <p:nvSpPr>
          <p:cNvPr id="11" name="Future scope 2"/>
          <p:cNvSpPr/>
          <p:nvPr/>
        </p:nvSpPr>
        <p:spPr>
          <a:xfrm>
            <a:off x="4251960" y="2029968"/>
            <a:ext cx="43434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Number 2"/>
          <p:cNvSpPr txBox="1"/>
          <p:nvPr/>
        </p:nvSpPr>
        <p:spPr>
          <a:xfrm>
            <a:off x="4389120" y="2139696"/>
            <a:ext cx="347472" cy="347472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02996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Semantic similarity for improved aspect detection.</a:t>
            </a:r>
            <a:endParaRPr lang="en-US" sz="1300" dirty="0"/>
          </a:p>
        </p:txBody>
      </p:sp>
      <p:sp>
        <p:nvSpPr>
          <p:cNvPr id="14" name="Future scope 3"/>
          <p:cNvSpPr/>
          <p:nvPr/>
        </p:nvSpPr>
        <p:spPr>
          <a:xfrm>
            <a:off x="4251960" y="2688336"/>
            <a:ext cx="43434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Number 3"/>
          <p:cNvSpPr txBox="1"/>
          <p:nvPr/>
        </p:nvSpPr>
        <p:spPr>
          <a:xfrm>
            <a:off x="4389120" y="2798064"/>
            <a:ext cx="347472" cy="347472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68833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Multilingual and Hinglish feedback support.</a:t>
            </a:r>
            <a:endParaRPr lang="en-US" sz="1300" dirty="0"/>
          </a:p>
        </p:txBody>
      </p:sp>
      <p:sp>
        <p:nvSpPr>
          <p:cNvPr id="17" name="Future scope 4"/>
          <p:cNvSpPr/>
          <p:nvPr/>
        </p:nvSpPr>
        <p:spPr>
          <a:xfrm>
            <a:off x="4251960" y="3346704"/>
            <a:ext cx="43434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umber 4"/>
          <p:cNvSpPr txBox="1"/>
          <p:nvPr/>
        </p:nvSpPr>
        <p:spPr>
          <a:xfrm>
            <a:off x="4389120" y="3456432"/>
            <a:ext cx="347472" cy="347472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3467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Department/semester analysis and historical trend analysis.</a:t>
            </a:r>
            <a:endParaRPr lang="en-US" sz="1300" dirty="0"/>
          </a:p>
        </p:txBody>
      </p:sp>
      <p:sp>
        <p:nvSpPr>
          <p:cNvPr id="20" name="Future scope 5"/>
          <p:cNvSpPr/>
          <p:nvPr/>
        </p:nvSpPr>
        <p:spPr>
          <a:xfrm>
            <a:off x="4251960" y="4005072"/>
            <a:ext cx="43434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Number 5"/>
          <p:cNvSpPr txBox="1"/>
          <p:nvPr/>
        </p:nvSpPr>
        <p:spPr>
          <a:xfrm>
            <a:off x="4389120" y="4114800"/>
            <a:ext cx="347472" cy="347472"/>
          </a:xfrm>
          <a:prstGeom prst="ellipse">
            <a:avLst/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892040" y="400507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Administrative dashboard for institutional decision-making.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Conclusion point 1"/>
          <p:cNvSpPr/>
          <p:nvPr/>
        </p:nvSpPr>
        <p:spPr>
          <a:xfrm>
            <a:off x="548640" y="1325880"/>
            <a:ext cx="539496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Number 1"/>
          <p:cNvSpPr txBox="1"/>
          <p:nvPr/>
        </p:nvSpPr>
        <p:spPr>
          <a:xfrm>
            <a:off x="713232" y="1481328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The project automates student feedback analysis using NLP and machine learning.</a:t>
            </a:r>
            <a:endParaRPr lang="en-US" sz="1400" dirty="0"/>
          </a:p>
        </p:txBody>
      </p:sp>
      <p:sp>
        <p:nvSpPr>
          <p:cNvPr id="6" name="Conclusion point 2"/>
          <p:cNvSpPr/>
          <p:nvPr/>
        </p:nvSpPr>
        <p:spPr>
          <a:xfrm>
            <a:off x="548640" y="2148840"/>
            <a:ext cx="539496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Number 2"/>
          <p:cNvSpPr txBox="1"/>
          <p:nvPr/>
        </p:nvSpPr>
        <p:spPr>
          <a:xfrm>
            <a:off x="713232" y="2304288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48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It combines sentiment classification, college aspect analysis, visualization, and reporting.</a:t>
            </a:r>
            <a:endParaRPr lang="en-US" sz="1400" dirty="0"/>
          </a:p>
        </p:txBody>
      </p:sp>
      <p:sp>
        <p:nvSpPr>
          <p:cNvPr id="9" name="Conclusion point 3"/>
          <p:cNvSpPr/>
          <p:nvPr/>
        </p:nvSpPr>
        <p:spPr>
          <a:xfrm>
            <a:off x="548640" y="2971800"/>
            <a:ext cx="539496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ber 3"/>
          <p:cNvSpPr txBox="1"/>
          <p:nvPr/>
        </p:nvSpPr>
        <p:spPr>
          <a:xfrm>
            <a:off x="713232" y="3127248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718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The deployed Streamlit application provides an easy interface for uploading and analyzing feedback.</a:t>
            </a:r>
            <a:endParaRPr lang="en-US" sz="1400" dirty="0"/>
          </a:p>
        </p:txBody>
      </p:sp>
      <p:sp>
        <p:nvSpPr>
          <p:cNvPr id="12" name="Conclusion point 4"/>
          <p:cNvSpPr/>
          <p:nvPr/>
        </p:nvSpPr>
        <p:spPr>
          <a:xfrm>
            <a:off x="548640" y="3794760"/>
            <a:ext cx="539496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Number 4"/>
          <p:cNvSpPr txBox="1"/>
          <p:nvPr/>
        </p:nvSpPr>
        <p:spPr>
          <a:xfrm>
            <a:off x="713232" y="3950208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947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The system can help colleges identify feedback patterns and areas that may require attention.</a:t>
            </a:r>
            <a:endParaRPr lang="en-US" sz="1400" dirty="0"/>
          </a:p>
        </p:txBody>
      </p:sp>
      <p:sp>
        <p:nvSpPr>
          <p:cNvPr id="15" name="Thank you circle"/>
          <p:cNvSpPr/>
          <p:nvPr/>
        </p:nvSpPr>
        <p:spPr>
          <a:xfrm>
            <a:off x="6309360" y="1325880"/>
            <a:ext cx="2286000" cy="22860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Graduation c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691640"/>
            <a:ext cx="603504" cy="60350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30936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edback Intelligence">
  <a:themeElements>
    <a:clrScheme name="Feedback Intelligence">
      <a:dk1>
        <a:srgbClr val="0F1B2D"/>
      </a:dk1>
      <a:lt1>
        <a:srgbClr val="FFFFFF"/>
      </a:lt1>
      <a:dk2>
        <a:srgbClr val="1B2F5B"/>
      </a:dk2>
      <a:lt2>
        <a:srgbClr val="F1F5F9"/>
      </a:lt2>
      <a:accent1>
        <a:srgbClr val="0E9F9A"/>
      </a:accent1>
      <a:accent2>
        <a:srgbClr val="3B5BDB"/>
      </a:accent2>
      <a:accent3>
        <a:srgbClr val="F59E0B"/>
      </a:accent3>
      <a:accent4>
        <a:srgbClr val="E5484D"/>
      </a:accent4>
      <a:accent5>
        <a:srgbClr val="2FA866"/>
      </a:accent5>
      <a:accent6>
        <a:srgbClr val="64748B"/>
      </a:accent6>
      <a:hlink>
        <a:srgbClr val="0E9F9A"/>
      </a:hlink>
      <a:folHlink>
        <a:srgbClr val="64748B"/>
      </a:folHlink>
    </a:clrScheme>
    <a:fontScheme name="Feedback Intellig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810</Words>
  <Application>Microsoft Office PowerPoint</Application>
  <PresentationFormat>On-screen Show (16:9)</PresentationFormat>
  <Paragraphs>212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Feedback Intelligence</vt:lpstr>
      <vt:lpstr>PowerPoint Presentation</vt:lpstr>
      <vt:lpstr>Problem Statement</vt:lpstr>
      <vt:lpstr>Project Objectives</vt:lpstr>
      <vt:lpstr>Proposed Solution</vt:lpstr>
      <vt:lpstr>Technologies Used</vt:lpstr>
      <vt:lpstr>System Workflow</vt:lpstr>
      <vt:lpstr>NLP Preprocessing</vt:lpstr>
      <vt:lpstr>Sentiment Classification</vt:lpstr>
      <vt:lpstr>Aspect Detection</vt:lpstr>
      <vt:lpstr>Application Dashboard</vt:lpstr>
      <vt:lpstr>Visual Analytics</vt:lpstr>
      <vt:lpstr>Model Performance</vt:lpstr>
      <vt:lpstr>Confusion Matrix</vt:lpstr>
      <vt:lpstr>Key Results &amp; Insights</vt:lpstr>
      <vt:lpstr>Deployment &amp; Future Scope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Feedback Intelligence System</dc:title>
  <dc:subject>PptxGenJS Presentation</dc:subject>
  <dc:creator>Shreyansh Sinha</dc:creator>
  <cp:lastModifiedBy>SHREYANSH SINHA</cp:lastModifiedBy>
  <cp:revision>2</cp:revision>
  <dcterms:created xsi:type="dcterms:W3CDTF">2026-10-06T19:12:20Z</dcterms:created>
  <dcterms:modified xsi:type="dcterms:W3CDTF">2026-10-06T19:15:45Z</dcterms:modified>
</cp:coreProperties>
</file>